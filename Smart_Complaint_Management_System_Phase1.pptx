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908792" cy="64008"/>
          </a:xfrm>
          <a:prstGeom prst="rect">
            <a:avLst/>
          </a:prstGeom>
          <a:solidFill>
            <a:srgbClr val="F490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Complaint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/>
        </p:nvSpPr>
        <p:spPr>
          <a:xfrm>
            <a:off x="640080" y="1828800"/>
            <a:ext cx="10908792" cy="54864"/>
          </a:xfrm>
          <a:prstGeom prst="rect">
            <a:avLst/>
          </a:prstGeom>
          <a:solidFill>
            <a:srgbClr val="F4902C"/>
          </a:solidFill>
          <a:ln w="12700">
            <a:solidFill>
              <a:srgbClr val="F490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20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MALLA REDDY ENGINEERING COLLEGE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DEPARTMENT OF COMPUTER SCIENCE AND ENGINEERING - AIML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MAJOR PROJECT REVIEW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Phase – I Presentation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1F1F"/>
                </a:solidFill>
              </a:rPr>
              <a:t>SMART COMPLAINT MANAGEMENT SYSTEM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TEAM MEMBERS :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23J41A6644   MOHAMMED AMAAN SHAH HUSSAIN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23J41A6637   K SURYA AKASH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23J41A6640   KETHAVATH NAVEEN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23J41A6656   SHAIK YOUSUF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UNDER THE GUIDANCE OF: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Mr. KONDURU VIJAY GANDHI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HOD: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0" y="3840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Dr. U. Mohan Srinivas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554480"/>
            <a:ext cx="5029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INTRODUCTION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OBJECTIVE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PROBLEM STATEMENT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LITERATURE SURVEY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PROPOSED METHODOLOGY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55448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EXISTING SYSTEM VS PROPOSED SYSTEM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UML DIAGRAMS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EXPERIMENTAL DETAILS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APPLICATIONS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ADVANTAGES AND LIMITATIONS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EXPECTED RESULTS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➢"/>
            </a:pPr>
            <a:r>
              <a:rPr lang="en-US" sz="2000" dirty="0">
                <a:solidFill>
                  <a:srgbClr val="000000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 Smart Complaint Management System is a web-based platform that lets users register, track and resolve complaints digitally from one place.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In many colleges, organisations and civic bodies, complaints are still collected on paper, phone calls or scattered emails, so they are often lost or delayed.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The proposed system uses automation and Artificial Intelligence to classify each complaint, set its priority and route it to the right department.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Users receive real-time status updates and notifications until the complaint is resolved.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Administrators get a dashboard with analytics to monitor pending, in-progress and resolved complaints.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It improves transparency, accountability and response time between complainants and authorities.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OBJECTIVE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develop a centralised online system for registering and managing complaints easily.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automatically categorise complaints and assign priority using NLP / machine learning techniques.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route each complaint to the concerned department or officer without manual effort.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provide real-time tracking and email/SMS notifications to the complainant.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ensure transparency by maintaining a complete history of every action taken on a complaint.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reduce complaint resolution time and eliminate lost or duplicate complaints.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To give administrators analytical reports for better decision making.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Traditional complaint handling is slow, manual and lacks transparency, which leads to user dissatisfaction.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The proposed Smart Complaint Management System provides a secure, role-based web application for users, officers and administrators.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Users submit complaints with description and evidence (images/documents) and can track them using a unique complaint ID.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An intelligent module analyses the complaint text to detect its category, urgency and sentiment, and forwards it to the right department.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Automatic escalation is triggered when a complaint is not resolved within the defined time limit.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Notifications, feedback after resolution and dashboards with analytics make the whole process faster, transparent and accountable.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Complaints are submitted through paper forms, calls or emails, which are difficult to track and easy to lose.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There is no single platform where users can see the real-time status of their complaint.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Manual sorting and forwarding of complaints causes delays and sometimes sends them to the wrong department.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Urgent complaints are not identified, so critical issues wait in the same queue as minor ones.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Lack of accountability: users do not know who is handling the complaint or why it is delayed.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Authorities have no analytics to find recurring problems or measure department performance.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This creates a need for a smart, automated and transparent complaint management system.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LITERATURE SURVEY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Online grievance redressal portals have been widely studied and shown to improve transparency compared to paper-based complaint handling.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Existing systems mostly record complaints and update status manually, with limited automation in routing and prioritisation.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Research on text classification using NLP (TF-IDF, SVM, Naive Bayes, and transformer models) shows that complaint categories can be identified automatically with good accuracy.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Sentiment analysis of complaint text has been used to detect user frustration and urgency.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Studies on e-governance report that real-time notifications and SLA-based escalation improve user trust and resolution time.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Current research focuses on making complaint systems more intelligent, automated and user-friendly.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PROPOSED METHODOLOGY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1 – Registration &amp; Login: users, officers and admin log in with role-based authentication.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2 – Complaint Submission: user enters title, description, location and uploads evidence; a unique complaint ID is generated.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3 – Smart Analysis: NLP module cleans the text, predicts the category, sets priority and detects duplicate complaints.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4 – Auto Assignment: the complaint is routed to the concerned department/officer based on category and workload.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5 – Processing &amp; Tracking: the officer updates status (Pending → In Progress → Resolved) and the user is notified at every stage.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6 – Escalation: unresolved complaints beyond the time limit are escalated to higher authority automatically.</a:t>
            </a:r>
            <a:endParaRPr lang="en-US" sz="1900" dirty="0"/>
          </a:p>
          <a:p>
            <a:pPr marL="279400" indent="-2794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Step 7 – Feedback &amp; Reports: user gives feedback on resolution; admin views analytics and reports.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Header0"/>
          <p:cNvSpPr/>
          <p:nvPr/>
        </p:nvSpPr>
        <p:spPr>
          <a:xfrm>
            <a:off x="640080" y="2103120"/>
            <a:ext cx="1874520" cy="548640"/>
          </a:xfrm>
          <a:prstGeom prst="rect">
            <a:avLst/>
          </a:prstGeom>
          <a:solidFill>
            <a:srgbClr val="F4902C"/>
          </a:solidFill>
          <a:ln w="12700">
            <a:solidFill>
              <a:srgbClr val="F490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Users</a:t>
            </a:r>
            <a:endParaRPr lang="en-US" sz="1600" dirty="0"/>
          </a:p>
        </p:txBody>
      </p:sp>
      <p:sp>
        <p:nvSpPr>
          <p:cNvPr id="5" name="Card0"/>
          <p:cNvSpPr/>
          <p:nvPr/>
        </p:nvSpPr>
        <p:spPr>
          <a:xfrm>
            <a:off x="640080" y="2651760"/>
            <a:ext cx="1874520" cy="1828800"/>
          </a:xfrm>
          <a:prstGeom prst="rect">
            <a:avLst/>
          </a:prstGeom>
          <a:solidFill>
            <a:srgbClr val="F3F3F3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974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Citizen / Student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Officer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Admin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42032" y="3291840"/>
            <a:ext cx="32918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Header1"/>
          <p:cNvSpPr/>
          <p:nvPr/>
        </p:nvSpPr>
        <p:spPr>
          <a:xfrm>
            <a:off x="2898648" y="2103120"/>
            <a:ext cx="1874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Interface</a:t>
            </a:r>
            <a:endParaRPr lang="en-US" sz="1600" dirty="0"/>
          </a:p>
        </p:txBody>
      </p:sp>
      <p:sp>
        <p:nvSpPr>
          <p:cNvPr id="10" name="Card1"/>
          <p:cNvSpPr/>
          <p:nvPr/>
        </p:nvSpPr>
        <p:spPr>
          <a:xfrm>
            <a:off x="2898648" y="2651760"/>
            <a:ext cx="1874520" cy="1828800"/>
          </a:xfrm>
          <a:prstGeom prst="rect">
            <a:avLst/>
          </a:prstGeom>
          <a:solidFill>
            <a:srgbClr val="F3F3F3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44368" y="26974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Login, Submit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Complaint, Track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Status, Dashboard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291840"/>
            <a:ext cx="32918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Header2"/>
          <p:cNvSpPr/>
          <p:nvPr/>
        </p:nvSpPr>
        <p:spPr>
          <a:xfrm>
            <a:off x="5157216" y="2103120"/>
            <a:ext cx="187452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Server</a:t>
            </a:r>
            <a:endParaRPr lang="en-US" sz="1600" dirty="0"/>
          </a:p>
        </p:txBody>
      </p:sp>
      <p:sp>
        <p:nvSpPr>
          <p:cNvPr id="15" name="Card2"/>
          <p:cNvSpPr/>
          <p:nvPr/>
        </p:nvSpPr>
        <p:spPr>
          <a:xfrm>
            <a:off x="5157216" y="2651760"/>
            <a:ext cx="1874520" cy="1828800"/>
          </a:xfrm>
          <a:prstGeom prst="rect">
            <a:avLst/>
          </a:prstGeom>
          <a:solidFill>
            <a:srgbClr val="F3F3F3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2936" y="26974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REST APIs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Authentication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Complaint Service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59168" y="3291840"/>
            <a:ext cx="32918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Header3"/>
          <p:cNvSpPr/>
          <p:nvPr/>
        </p:nvSpPr>
        <p:spPr>
          <a:xfrm>
            <a:off x="7415784" y="2103120"/>
            <a:ext cx="1874520" cy="548640"/>
          </a:xfrm>
          <a:prstGeom prst="rect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15784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 Module</a:t>
            </a:r>
            <a:endParaRPr lang="en-US" sz="1600" dirty="0"/>
          </a:p>
        </p:txBody>
      </p:sp>
      <p:sp>
        <p:nvSpPr>
          <p:cNvPr id="20" name="Card3"/>
          <p:cNvSpPr/>
          <p:nvPr/>
        </p:nvSpPr>
        <p:spPr>
          <a:xfrm>
            <a:off x="7415784" y="2651760"/>
            <a:ext cx="1874520" cy="1828800"/>
          </a:xfrm>
          <a:prstGeom prst="rect">
            <a:avLst/>
          </a:prstGeom>
          <a:solidFill>
            <a:srgbClr val="F3F3F3"/>
          </a:solidFill>
          <a:ln w="15875">
            <a:solidFill>
              <a:srgbClr val="7B1F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26974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Text Pre-processing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Category Prediction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Priority &amp; Duplicates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17736" y="3291840"/>
            <a:ext cx="32918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Header4"/>
          <p:cNvSpPr/>
          <p:nvPr/>
        </p:nvSpPr>
        <p:spPr>
          <a:xfrm>
            <a:off x="9674352" y="2103120"/>
            <a:ext cx="1874520" cy="548640"/>
          </a:xfrm>
          <a:prstGeom prst="rect">
            <a:avLst/>
          </a:prstGeom>
          <a:solidFill>
            <a:srgbClr val="3B7D23"/>
          </a:solidFill>
          <a:ln w="12700">
            <a:solidFill>
              <a:srgbClr val="3B7D2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74352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25" name="Card4"/>
          <p:cNvSpPr/>
          <p:nvPr/>
        </p:nvSpPr>
        <p:spPr>
          <a:xfrm>
            <a:off x="9674352" y="2651760"/>
            <a:ext cx="1874520" cy="1828800"/>
          </a:xfrm>
          <a:prstGeom prst="rect">
            <a:avLst/>
          </a:prstGeom>
          <a:solidFill>
            <a:srgbClr val="F3F3F3"/>
          </a:solidFill>
          <a:ln w="15875">
            <a:solidFill>
              <a:srgbClr val="3B7D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20072" y="269748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Users, Complaints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Status History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Feedback, Logs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94476" y="4572000"/>
            <a:ext cx="0" cy="45720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8" name="Notify"/>
          <p:cNvSpPr/>
          <p:nvPr/>
        </p:nvSpPr>
        <p:spPr>
          <a:xfrm>
            <a:off x="4754880" y="5074920"/>
            <a:ext cx="2743200" cy="640080"/>
          </a:xfrm>
          <a:prstGeom prst="rect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5074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Email / SMS Notification Service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EXISTING SYSTEM VS PROPOSED SYSTEM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44165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Attribute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System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 System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Complaint Submission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Paper forms, calls, emails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Online portal with evidence upload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Categorisation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 manually by staff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Automatic using NLP / ML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Prioritisation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priority; first come first served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Urgency detected automatically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Routing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Manual forwarding, often delayed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Auto-assigned to concerned department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 Tracking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must visit or call to ask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Real-time tracking with complaint ID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Notifications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 or manual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Automatic email / SMS updates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Escalation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Depends on follow-up by user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Automatic escalation on deadline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Analytics &amp; Reports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available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with charts and reports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UML DIAGRAMS – USE CASE DIAGRAM</a:t>
            </a:r>
            <a:endParaRPr lang="en-US" sz="3000" dirty="0"/>
          </a:p>
        </p:txBody>
      </p:sp>
      <p:sp>
        <p:nvSpPr>
          <p:cNvPr id="3" name="Boundary"/>
          <p:cNvSpPr/>
          <p:nvPr/>
        </p:nvSpPr>
        <p:spPr>
          <a:xfrm>
            <a:off x="2377440" y="1325880"/>
            <a:ext cx="7406640" cy="498348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377440" y="1371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Smart Complaint Management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0" y="1828800"/>
            <a:ext cx="3108960" cy="566928"/>
          </a:xfrm>
          <a:prstGeom prst="ellipse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828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Register / 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743200"/>
            <a:ext cx="3108960" cy="566928"/>
          </a:xfrm>
          <a:prstGeom prst="ellipse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743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Submit Complaint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657600"/>
            <a:ext cx="3108960" cy="566928"/>
          </a:xfrm>
          <a:prstGeom prst="ellipse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3657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Upload Evidence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4572000"/>
            <a:ext cx="3108960" cy="566928"/>
          </a:xfrm>
          <a:prstGeom prst="ellipse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0320" y="4572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Track Complaint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5486400"/>
            <a:ext cx="3108960" cy="566928"/>
          </a:xfrm>
          <a:prstGeom prst="ellipse">
            <a:avLst/>
          </a:prstGeom>
          <a:solidFill>
            <a:srgbClr val="FFF2E0"/>
          </a:solidFill>
          <a:ln w="15875">
            <a:solidFill>
              <a:srgbClr val="F490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5486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Give Feedback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3108960" cy="566928"/>
          </a:xfrm>
          <a:prstGeom prst="ellipse">
            <a:avLst/>
          </a:prstGeom>
          <a:solidFill>
            <a:srgbClr val="E8ECF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8288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Auto Categorise &amp; Prioritise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743200"/>
            <a:ext cx="3108960" cy="566928"/>
          </a:xfrm>
          <a:prstGeom prst="ellipse">
            <a:avLst/>
          </a:prstGeom>
          <a:solidFill>
            <a:srgbClr val="E8ECF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743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Assign to Officer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3108960" cy="566928"/>
          </a:xfrm>
          <a:prstGeom prst="ellipse">
            <a:avLst/>
          </a:prstGeom>
          <a:solidFill>
            <a:srgbClr val="E8ECF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36576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Update Status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3108960" cy="566928"/>
          </a:xfrm>
          <a:prstGeom prst="ellipse">
            <a:avLst/>
          </a:prstGeom>
          <a:solidFill>
            <a:srgbClr val="E8ECF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4572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Manage Users &amp; Departments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5486400"/>
            <a:ext cx="3108960" cy="566928"/>
          </a:xfrm>
          <a:prstGeom prst="ellipse">
            <a:avLst/>
          </a:prstGeom>
          <a:solidFill>
            <a:srgbClr val="E8ECF4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54864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Generate Reports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43000" y="301752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29184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342900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078992" y="374904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374904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User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744200" y="20116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81360" y="228600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52760" y="242316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10680192" y="274320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81360" y="274320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4984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Officer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744200" y="420624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81360" y="448056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2760" y="46177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10680192" y="493776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81360" y="4937760"/>
            <a:ext cx="201168" cy="3657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149840" y="5349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Admin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 flipV="1">
            <a:off x="1508760" y="2112264"/>
            <a:ext cx="1051560" cy="1545336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508760" y="3026664"/>
            <a:ext cx="1051560" cy="630936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08760" y="3657600"/>
            <a:ext cx="1051560" cy="28346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08760" y="3657600"/>
            <a:ext cx="1051560" cy="119786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08760" y="3657600"/>
            <a:ext cx="1051560" cy="211226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372600" y="2743200"/>
            <a:ext cx="1280160" cy="28346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372600" y="2743200"/>
            <a:ext cx="1280160" cy="119786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72600" y="4855464"/>
            <a:ext cx="1280160" cy="82296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9372600" y="4937760"/>
            <a:ext cx="1280160" cy="832104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72600" y="3026664"/>
            <a:ext cx="1280160" cy="1911096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UML DIAGRAMS – CLASS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46888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User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01368"/>
            <a:ext cx="2468880" cy="96012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470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userId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name,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password, role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2468880" cy="96012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072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login()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register()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logout()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292608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Complaint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23360" y="1801368"/>
            <a:ext cx="2926080" cy="123444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84708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complaintId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title, description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category, priority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status, createdAt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3035808"/>
            <a:ext cx="2926080" cy="96012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308152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submit()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track()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updateStatus()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265176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Department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1801368"/>
            <a:ext cx="2651760" cy="96012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18470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deptId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headOfDept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2761488"/>
            <a:ext cx="2651760" cy="68580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assignOfficer()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viewComplaints()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246888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97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Admin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681728"/>
            <a:ext cx="2468880" cy="41148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adminId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093208"/>
            <a:ext cx="2468880" cy="68580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138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manageUsers()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generateReport()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4709160"/>
            <a:ext cx="292608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0" y="4709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Feedback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023360" y="5093208"/>
            <a:ext cx="2926080" cy="68580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0" y="5138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feedbackId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rating, comments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60" y="5779008"/>
            <a:ext cx="2926080" cy="41148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0" y="5824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submitFeedback()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4023360"/>
            <a:ext cx="2651760" cy="384048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4023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Notification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863840" y="4407408"/>
            <a:ext cx="2651760" cy="68580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0" y="44531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notifId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message, sentAt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863840" y="5093208"/>
            <a:ext cx="2651760" cy="685800"/>
          </a:xfrm>
          <a:prstGeom prst="rect">
            <a:avLst/>
          </a:prstGeom>
          <a:solidFill>
            <a:srgbClr val="FFFBE0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55280" y="5138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sendEmail()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+ sendSMS()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08960" y="2286000"/>
            <a:ext cx="9144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0896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submits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9440" y="2286000"/>
            <a:ext cx="9144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handled by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3291840"/>
            <a:ext cx="0" cy="10058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65960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extends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0" y="4114800"/>
            <a:ext cx="0" cy="59436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532120" y="4297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has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89720" y="3291840"/>
            <a:ext cx="0" cy="73152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35440" y="3520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notifies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UML DIAGRAMS – SEQUENCE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1554480" cy="457200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User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0" cy="45262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880360" y="1371600"/>
            <a:ext cx="1554480" cy="457200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0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Web Portal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0" cy="45262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166360" y="1371600"/>
            <a:ext cx="1554480" cy="457200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Smart Module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828800"/>
            <a:ext cx="0" cy="45262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452360" y="1371600"/>
            <a:ext cx="1554480" cy="457200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Officer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0" cy="45262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9738360" y="1371600"/>
            <a:ext cx="1554480" cy="457200"/>
          </a:xfrm>
          <a:prstGeom prst="rect">
            <a:avLst/>
          </a:prstGeom>
          <a:solidFill>
            <a:srgbClr val="FFF2B3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38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Database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0" y="1828800"/>
            <a:ext cx="0" cy="45262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371600" y="2194560"/>
            <a:ext cx="228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463040" y="1901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1. Login / Submit complaint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2651760"/>
            <a:ext cx="6858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749040" y="23591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2. Save complaint (ID generated)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3108960"/>
            <a:ext cx="228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749040" y="2816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3. Analyse 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3657600" y="3566160"/>
            <a:ext cx="228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749040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4. Category + priority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4023360"/>
            <a:ext cx="4572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749040" y="37307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5. Assign to officer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480560"/>
            <a:ext cx="2286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321040" y="4187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6. Update status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1371600" y="4937760"/>
            <a:ext cx="914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463040" y="46451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7. Notification sent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371600" y="5394960"/>
            <a:ext cx="914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463040" y="51023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8. Track status / give feedback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H="1">
            <a:off x="1371600" y="5852160"/>
            <a:ext cx="9144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463040" y="55595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9. Status &amp; resolution 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EXPERIMENTAL DETAILS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0352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840480"/>
          </a:xfrm>
          <a:prstGeom prst="rect">
            <a:avLst/>
          </a:prstGeom>
          <a:solidFill>
            <a:srgbClr val="F3F3F3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Front End: HTML, CSS, JavaScript (React)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Back End: Node.js with Express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Smart Module: Python (NLTK, scikit-learn)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Database: MySQL / MongoDB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Notifications: SMTP email, SMS gateway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Tools: VS Code, Git, Postman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Operating System: Windows 10 / 11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45352" y="1463040"/>
            <a:ext cx="5303520" cy="502920"/>
          </a:xfrm>
          <a:prstGeom prst="rect">
            <a:avLst/>
          </a:prstGeom>
          <a:solidFill>
            <a:srgbClr val="7B1F1F"/>
          </a:solidFill>
          <a:ln w="12700">
            <a:solidFill>
              <a:srgbClr val="7B1F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45352" y="1463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HARDWARE REQUIREMENTS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03520" cy="3840480"/>
          </a:xfrm>
          <a:prstGeom prst="rect">
            <a:avLst/>
          </a:prstGeom>
          <a:solidFill>
            <a:srgbClr val="F3F3F3"/>
          </a:solidFill>
          <a:ln w="15875">
            <a:solidFill>
              <a:srgbClr val="7B1F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21488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Processor: Intel Core i3 or above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RAM: 8 GB (minimum 4 GB)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Hard Disk: 256 GB or above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Internet connection for web access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</a:rPr>
              <a:t>Any modern browser (Chrome, Edge, Firefox)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APPLICATIONS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Colleges and universities – for student and staff grievances (hostel, library, labs, academics).</a:t>
            </a:r>
            <a:endParaRPr lang="en-US" sz="23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Government and municipal offices – for citizen complaints on roads, water, electricity and sanitation.</a:t>
            </a:r>
            <a:endParaRPr lang="en-US" sz="23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Corporate offices – for employee grievances and internal helpdesk issues.</a:t>
            </a:r>
            <a:endParaRPr lang="en-US" sz="23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Hospitals – for patient complaints and service feedback.</a:t>
            </a:r>
            <a:endParaRPr lang="en-US" sz="23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Residential societies and apartments – for maintenance and security issues.</a:t>
            </a:r>
            <a:endParaRPr lang="en-US" sz="2300" dirty="0"/>
          </a:p>
          <a:p>
            <a:pPr marL="279400" indent="-2794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Customer service departments – for product and service complaints.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ADVANTAGES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Single online platform for registering and tracking complaints.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Saves time through automatic categorisation, prioritisation and routing.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Real-time status updates and notifications keep users informed.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Transparent process with complete history of every action.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Automatic escalation avoids delays and ensures accountability.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Dashboards and reports help authorities find recurring problems.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Reduces paperwork and manual effort.</a:t>
            </a:r>
            <a:endParaRPr lang="en-US" sz="2300" dirty="0"/>
          </a:p>
          <a:p>
            <a:pPr marL="279400" indent="-279400">
              <a:spcAft>
                <a:spcPts val="12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Builds trust between users and the organisation.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LIMITATIONS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Requires internet access and a device for both users and staff.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Accuracy of automatic categorisation depends on the quality of training data.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Users and staff need basic training to use the system.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Complaints written in mixed or regional languages may be harder to classify.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Initial setup, hosting and maintenance involve cost.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Needs strong data security to protect personal information.</a:t>
            </a:r>
            <a:endParaRPr lang="en-US" sz="2300" dirty="0"/>
          </a:p>
          <a:p>
            <a:pPr marL="279400" indent="-279400">
              <a:spcAft>
                <a:spcPts val="14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</a:rPr>
              <a:t>Integration with existing organisational systems can be difficult.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EXPECTED RESULTS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 working web application where users can register, submit and track complaints online.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Complaints are categorised and prioritised automatically with good accuracy.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Complaints reach the correct department faster, reducing resolution time.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Users receive timely notifications at every stage of the complaint.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Administrators can view live dashboards and reports on complaint status and department performance.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Fewer lost, duplicate or ignored complaints, resulting in higher user satisfaction.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Phase II plan: implement the modules, train and test the smart module, and perform system testing.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Body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The Smart Complaint Management System replaces slow, manual complaint handling with a fast, transparent and automated process.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Smart categorisation, priority detection and auto-assignment ensure that every complaint reaches the right person on time.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Real-time tracking, notifications, escalation and feedback build trust between users and authorities.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Analytics help management identify recurring issues and improve services.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Although it needs initial setup and user training, it makes organisations more efficient, accountable and user-friendly.</a:t>
            </a:r>
            <a:endParaRPr lang="en-US" sz="2100" dirty="0"/>
          </a:p>
          <a:p>
            <a:pPr marL="279400" indent="-2794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</a:rPr>
              <a:t>In Phase II, the proposed design will be implemented and tested as a complete working system.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3794760"/>
            <a:ext cx="6336792" cy="64008"/>
          </a:xfrm>
          <a:prstGeom prst="rect">
            <a:avLst/>
          </a:prstGeom>
          <a:solidFill>
            <a:srgbClr val="F4902C"/>
          </a:solidFill>
          <a:ln w="12700">
            <a:solidFill>
              <a:srgbClr val="F490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B1F1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</a:rPr>
              <a:t>Queries?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EC Review">
  <a:themeElements>
    <a:clrScheme name="MREC Review">
      <a:dk1>
        <a:srgbClr val="000000"/>
      </a:dk1>
      <a:lt1>
        <a:srgbClr val="FFFFFF"/>
      </a:lt1>
      <a:dk2>
        <a:srgbClr val="1F3864"/>
      </a:dk2>
      <a:lt2>
        <a:srgbClr val="F3F3F3"/>
      </a:lt2>
      <a:accent1>
        <a:srgbClr val="F4902C"/>
      </a:accent1>
      <a:accent2>
        <a:srgbClr val="1F3864"/>
      </a:accent2>
      <a:accent3>
        <a:srgbClr val="7B1F1F"/>
      </a:accent3>
      <a:accent4>
        <a:srgbClr val="4F81BD"/>
      </a:accent4>
      <a:accent5>
        <a:srgbClr val="70AD47"/>
      </a:accent5>
      <a:accent6>
        <a:srgbClr val="FFD966"/>
      </a:accent6>
      <a:hlink>
        <a:srgbClr val="0563C1"/>
      </a:hlink>
      <a:folHlink>
        <a:srgbClr val="954F72"/>
      </a:folHlink>
    </a:clrScheme>
    <a:fontScheme name="MREC 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Complaint Management System</dc:title>
  <dc:subject>PptxGenJS Presentation</dc:subject>
  <dc:creator>Major Project Team</dc:creator>
  <cp:lastModifiedBy>Major Project Team</cp:lastModifiedBy>
  <cp:revision>1</cp:revision>
  <dcterms:created xsi:type="dcterms:W3CDTF">2026-10-11T16:05:01Z</dcterms:created>
  <dcterms:modified xsi:type="dcterms:W3CDTF">2026-10-11T16:05:01Z</dcterms:modified>
</cp:coreProperties>
</file>